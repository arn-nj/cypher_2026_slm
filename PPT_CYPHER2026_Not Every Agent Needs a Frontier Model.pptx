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5" r:id="rId4"/>
    <p:sldId id="258" r:id="rId5"/>
    <p:sldId id="259" r:id="rId6"/>
    <p:sldId id="261" r:id="rId7"/>
    <p:sldId id="263" r:id="rId8"/>
    <p:sldId id="262" r:id="rId9"/>
    <p:sldId id="264" r:id="rId1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86" autoAdjust="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10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2125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NVIDIA's working definitions WD1/WD2. The authors deliberately avoid a parameter number so the definition stays timeless.</a:t>
            </a:r>
            <a:endParaRPr/>
          </a:p>
        </p:txBody>
      </p:sp>
      <p:sp>
        <p:nvSpPr>
          <p:cNvPr id="93" name="Google Shape;93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82880" cy="10287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377440"/>
            <a:ext cx="1463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400" y="3152273"/>
            <a:ext cx="1554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Agent Needs</a:t>
            </a:r>
            <a:r>
              <a:rPr lang="en-US" sz="4200" dirty="0"/>
              <a:t> </a:t>
            </a:r>
            <a:r>
              <a:rPr lang="en-US" sz="4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Frontier Model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4846320"/>
            <a:ext cx="1463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5440680"/>
            <a:ext cx="292608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440680"/>
            <a:ext cx="1463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CYPHER 2026  |  Nitin Agarwal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6002000" y="320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kern="0" spc="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0"/>
            <a:ext cx="17190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73836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Agent Needs a Frontier Model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0" y="9738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868680"/>
            <a:ext cx="1463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</a:t>
            </a:r>
            <a:r>
              <a:rPr lang="en-US" sz="4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</a:t>
            </a:r>
            <a:r>
              <a:rPr lang="en-US" sz="3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cover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731520" y="1783080"/>
            <a:ext cx="16733520" cy="128016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2079060"/>
            <a:ext cx="1051560" cy="822960"/>
          </a:xfrm>
          <a:prstGeom prst="roundRect">
            <a:avLst>
              <a:gd name="adj" fmla="val 8889"/>
            </a:avLst>
          </a:prstGeom>
          <a:solidFill>
            <a:srgbClr val="CCFBF1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21622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331720" y="1987620"/>
            <a:ext cx="1417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classification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331720" y="2490540"/>
            <a:ext cx="1417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SLM-appropriate stages (classification, extraction, routing, reranking) vs. LLM stages (synthesis, ambiguity, judgment).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731520" y="3496380"/>
            <a:ext cx="16733520" cy="155448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3862140"/>
            <a:ext cx="1051560" cy="822960"/>
          </a:xfrm>
          <a:prstGeom prst="roundRect">
            <a:avLst>
              <a:gd name="adj" fmla="val 8889"/>
            </a:avLst>
          </a:prstGeom>
          <a:solidFill>
            <a:srgbClr val="CCFBF1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9993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331720" y="3770700"/>
            <a:ext cx="1417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pipeline design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331720" y="4273620"/>
            <a:ext cx="1417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per-stage model selection — not “call the biggest model for everything.”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731520" y="5279460"/>
            <a:ext cx="16733520" cy="155448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/>
        </p:spPr>
      </p:sp>
      <p:sp>
        <p:nvSpPr>
          <p:cNvPr id="20" name="Shape 18"/>
          <p:cNvSpPr/>
          <p:nvPr/>
        </p:nvSpPr>
        <p:spPr>
          <a:xfrm>
            <a:off x="960120" y="5645220"/>
            <a:ext cx="1051560" cy="822960"/>
          </a:xfrm>
          <a:prstGeom prst="roundRect">
            <a:avLst>
              <a:gd name="adj" fmla="val 8889"/>
            </a:avLst>
          </a:prstGeom>
          <a:solidFill>
            <a:srgbClr val="CCFBF1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57823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331720" y="5553780"/>
            <a:ext cx="1417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RAG → agentic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2331720" y="6056700"/>
            <a:ext cx="1417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rewriting, multi-agent routing, optional self-reflection — and whether the extra reasoning is worth it.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731520" y="7062540"/>
            <a:ext cx="16733520" cy="1554480"/>
          </a:xfrm>
          <a:prstGeom prst="roundRect">
            <a:avLst>
              <a:gd name="adj" fmla="val 4706"/>
            </a:avLst>
          </a:prstGeom>
          <a:solidFill>
            <a:srgbClr val="F7F8FA"/>
          </a:solidFill>
          <a:ln/>
        </p:spPr>
      </p:sp>
      <p:sp>
        <p:nvSpPr>
          <p:cNvPr id="25" name="Shape 23"/>
          <p:cNvSpPr/>
          <p:nvPr/>
        </p:nvSpPr>
        <p:spPr>
          <a:xfrm>
            <a:off x="960120" y="7428300"/>
            <a:ext cx="1051560" cy="822960"/>
          </a:xfrm>
          <a:prstGeom prst="roundRect">
            <a:avLst>
              <a:gd name="adj" fmla="val 8889"/>
            </a:avLst>
          </a:prstGeom>
          <a:solidFill>
            <a:srgbClr val="CCFBF1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75654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2331720" y="7336860"/>
            <a:ext cx="1417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metrics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2331720" y="7839780"/>
            <a:ext cx="1417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Quality, latency (P50/P95), cost per query, SLM-vs-LLM call mix — not just a plausible-looking answer.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/>
          <p:cNvSpPr/>
          <p:nvPr/>
        </p:nvSpPr>
        <p:spPr>
          <a:xfrm>
            <a:off x="16459200" y="9532620"/>
            <a:ext cx="822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>
              <a:buClr>
                <a:srgbClr val="6E8299"/>
              </a:buClr>
              <a:buSzPts val="1000"/>
            </a:pPr>
            <a:r>
              <a:rPr lang="en-US" sz="1400">
                <a:solidFill>
                  <a:srgbClr val="6E8299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3</a:t>
            </a:r>
            <a:endParaRPr sz="140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960120" y="905256"/>
            <a:ext cx="1632204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C1E30"/>
              </a:buClr>
              <a:buSzPts val="3000"/>
            </a:pPr>
            <a:r>
              <a:rPr lang="en-US" sz="4000" b="1" dirty="0">
                <a:solidFill>
                  <a:srgbClr val="0C1E30"/>
                </a:solidFill>
                <a:latin typeface="Arial" panose="020B0604020202020204" pitchFamily="34" charset="0"/>
                <a:ea typeface="Cambria"/>
                <a:cs typeface="Arial" panose="020B0604020202020204" pitchFamily="34" charset="0"/>
                <a:sym typeface="Cambria"/>
              </a:rPr>
              <a:t>Small Language Models</a:t>
            </a:r>
            <a:endParaRPr sz="4000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08F256F-FF9D-F651-CE66-66231AD2BD11}"/>
              </a:ext>
            </a:extLst>
          </p:cNvPr>
          <p:cNvGrpSpPr/>
          <p:nvPr/>
        </p:nvGrpSpPr>
        <p:grpSpPr>
          <a:xfrm>
            <a:off x="960119" y="2625090"/>
            <a:ext cx="7169217" cy="4114800"/>
            <a:chOff x="5417820" y="557182"/>
            <a:chExt cx="5486400" cy="411480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0F12845-C6C4-3161-49FE-0C2BE83D2B37}"/>
                </a:ext>
              </a:extLst>
            </p:cNvPr>
            <p:cNvGrpSpPr/>
            <p:nvPr/>
          </p:nvGrpSpPr>
          <p:grpSpPr>
            <a:xfrm>
              <a:off x="5417820" y="557182"/>
              <a:ext cx="5486400" cy="4114800"/>
              <a:chOff x="731520" y="2194560"/>
              <a:chExt cx="5486400" cy="4114800"/>
            </a:xfrm>
          </p:grpSpPr>
          <p:sp>
            <p:nvSpPr>
              <p:cNvPr id="6" name="Shape 8">
                <a:extLst>
                  <a:ext uri="{FF2B5EF4-FFF2-40B4-BE49-F238E27FC236}">
                    <a16:creationId xmlns:a16="http://schemas.microsoft.com/office/drawing/2014/main" id="{CB4AE9D4-B406-A8DC-9FEF-38AFACD0B1E2}"/>
                  </a:ext>
                </a:extLst>
              </p:cNvPr>
              <p:cNvSpPr/>
              <p:nvPr/>
            </p:nvSpPr>
            <p:spPr>
              <a:xfrm>
                <a:off x="731520" y="2194560"/>
                <a:ext cx="5486400" cy="4114800"/>
              </a:xfrm>
              <a:prstGeom prst="roundRect">
                <a:avLst>
                  <a:gd name="adj" fmla="val 2222"/>
                </a:avLst>
              </a:prstGeom>
              <a:solidFill>
                <a:srgbClr val="F7F8FA"/>
              </a:solidFill>
              <a:ln/>
            </p:spPr>
          </p:sp>
          <p:sp>
            <p:nvSpPr>
              <p:cNvPr id="8" name="Shape 9">
                <a:extLst>
                  <a:ext uri="{FF2B5EF4-FFF2-40B4-BE49-F238E27FC236}">
                    <a16:creationId xmlns:a16="http://schemas.microsoft.com/office/drawing/2014/main" id="{F7E18108-ACC8-A1BD-B871-7F2C159B5EB8}"/>
                  </a:ext>
                </a:extLst>
              </p:cNvPr>
              <p:cNvSpPr/>
              <p:nvPr/>
            </p:nvSpPr>
            <p:spPr>
              <a:xfrm>
                <a:off x="731520" y="2194560"/>
                <a:ext cx="5486400" cy="91440"/>
              </a:xfrm>
              <a:prstGeom prst="rect">
                <a:avLst/>
              </a:prstGeom>
              <a:solidFill>
                <a:srgbClr val="0F766E"/>
              </a:solidFill>
              <a:ln/>
            </p:spPr>
          </p:sp>
        </p:grpSp>
        <p:sp>
          <p:nvSpPr>
            <p:cNvPr id="12" name="Text 11">
              <a:extLst>
                <a:ext uri="{FF2B5EF4-FFF2-40B4-BE49-F238E27FC236}">
                  <a16:creationId xmlns:a16="http://schemas.microsoft.com/office/drawing/2014/main" id="{858F2C95-B0EF-E163-893F-ECE02B03BAC0}"/>
                </a:ext>
              </a:extLst>
            </p:cNvPr>
            <p:cNvSpPr/>
            <p:nvPr/>
          </p:nvSpPr>
          <p:spPr>
            <a:xfrm>
              <a:off x="5669280" y="1580108"/>
              <a:ext cx="4846320" cy="2560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514350" indent="-514350">
                <a:lnSpc>
                  <a:spcPct val="138461"/>
                </a:lnSpc>
                <a:buClr>
                  <a:srgbClr val="31465C"/>
                </a:buClr>
                <a:buSzPts val="1300"/>
                <a:buFont typeface="Calibri"/>
                <a:buChar char="•"/>
              </a:pPr>
              <a:r>
                <a:rPr lang="en-US" dirty="0">
                  <a:solidFill>
                    <a:srgbClr val="31465C"/>
                  </a:solidFill>
                  <a:latin typeface="Arial" panose="020B0604020202020204" pitchFamily="34" charset="0"/>
                  <a:ea typeface="Calibri"/>
                  <a:cs typeface="Arial" panose="020B0604020202020204" pitchFamily="34" charset="0"/>
                  <a:sym typeface="Calibri"/>
                </a:rPr>
                <a:t>Anything under roughly 10 billion parameters is treated as small, as of 2025.</a:t>
              </a:r>
              <a:endParaRPr lang="en-US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  <a:p>
              <a:pPr marL="514350" indent="-514350">
                <a:lnSpc>
                  <a:spcPct val="138461"/>
                </a:lnSpc>
                <a:spcBef>
                  <a:spcPts val="1200"/>
                </a:spcBef>
                <a:buClr>
                  <a:srgbClr val="31465C"/>
                </a:buClr>
                <a:buSzPts val="1300"/>
                <a:buFont typeface="Calibri"/>
                <a:buChar char="•"/>
              </a:pPr>
              <a:r>
                <a:rPr lang="en-US" dirty="0">
                  <a:solidFill>
                    <a:srgbClr val="31465C"/>
                  </a:solidFill>
                  <a:latin typeface="Arial" panose="020B0604020202020204" pitchFamily="34" charset="0"/>
                  <a:ea typeface="Calibri"/>
                  <a:cs typeface="Arial" panose="020B0604020202020204" pitchFamily="34" charset="0"/>
                  <a:sym typeface="Calibri"/>
                </a:rPr>
                <a:t>Frontier LLMs sit at hundreds of billions — GPT models are reported above a trillion.</a:t>
              </a:r>
              <a:endParaRPr lang="en-US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  <a:p>
              <a:pPr marL="514350" indent="-514350">
                <a:lnSpc>
                  <a:spcPct val="138461"/>
                </a:lnSpc>
                <a:spcBef>
                  <a:spcPts val="1200"/>
                </a:spcBef>
                <a:buClr>
                  <a:srgbClr val="31465C"/>
                </a:buClr>
                <a:buSzPts val="1300"/>
                <a:buFont typeface="Calibri"/>
                <a:buChar char="•"/>
              </a:pPr>
              <a:r>
                <a:rPr lang="en-US" dirty="0">
                  <a:solidFill>
                    <a:srgbClr val="31465C"/>
                  </a:solidFill>
                  <a:latin typeface="Arial" panose="020B0604020202020204" pitchFamily="34" charset="0"/>
                  <a:ea typeface="Calibri"/>
                  <a:cs typeface="Arial" panose="020B0604020202020204" pitchFamily="34" charset="0"/>
                  <a:sym typeface="Calibri"/>
                </a:rPr>
                <a:t>Easy to say, but it ages badly. Today's "large" is next year's phone model.</a:t>
              </a:r>
              <a:endParaRPr lang="en-US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5669280" y="900202"/>
              <a:ext cx="5166360" cy="617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0C1E30"/>
                </a:buClr>
                <a:buSzPts val="1900"/>
              </a:pPr>
              <a:r>
                <a:rPr lang="en-US" sz="2400" b="1" dirty="0">
                  <a:solidFill>
                    <a:srgbClr val="0C1E30"/>
                  </a:solidFill>
                  <a:latin typeface="Arial" panose="020B0604020202020204" pitchFamily="34" charset="0"/>
                  <a:ea typeface="Cambria"/>
                  <a:cs typeface="Arial" panose="020B0604020202020204" pitchFamily="34" charset="0"/>
                  <a:sym typeface="Cambria"/>
                </a:rPr>
                <a:t>The count heuristic</a:t>
              </a:r>
              <a:endParaRPr sz="24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CA43A65-D329-5B97-57FF-881438EE7CE4}"/>
              </a:ext>
            </a:extLst>
          </p:cNvPr>
          <p:cNvGrpSpPr/>
          <p:nvPr/>
        </p:nvGrpSpPr>
        <p:grpSpPr>
          <a:xfrm>
            <a:off x="8517956" y="2625090"/>
            <a:ext cx="7700611" cy="4114800"/>
            <a:chOff x="5417820" y="557182"/>
            <a:chExt cx="5486400" cy="411480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A0C43CC-1199-C159-F60F-3226F098E815}"/>
                </a:ext>
              </a:extLst>
            </p:cNvPr>
            <p:cNvGrpSpPr/>
            <p:nvPr/>
          </p:nvGrpSpPr>
          <p:grpSpPr>
            <a:xfrm>
              <a:off x="5417820" y="557182"/>
              <a:ext cx="5486400" cy="4114800"/>
              <a:chOff x="731520" y="2194560"/>
              <a:chExt cx="5486400" cy="4114800"/>
            </a:xfrm>
          </p:grpSpPr>
          <p:sp>
            <p:nvSpPr>
              <p:cNvPr id="19" name="Shape 8">
                <a:extLst>
                  <a:ext uri="{FF2B5EF4-FFF2-40B4-BE49-F238E27FC236}">
                    <a16:creationId xmlns:a16="http://schemas.microsoft.com/office/drawing/2014/main" id="{59898935-0655-E2AA-84EF-BC4644B3C99B}"/>
                  </a:ext>
                </a:extLst>
              </p:cNvPr>
              <p:cNvSpPr/>
              <p:nvPr/>
            </p:nvSpPr>
            <p:spPr>
              <a:xfrm>
                <a:off x="731520" y="2194560"/>
                <a:ext cx="5486400" cy="4114800"/>
              </a:xfrm>
              <a:prstGeom prst="roundRect">
                <a:avLst>
                  <a:gd name="adj" fmla="val 2222"/>
                </a:avLst>
              </a:prstGeom>
              <a:solidFill>
                <a:srgbClr val="F7F8FA"/>
              </a:solidFill>
              <a:ln/>
            </p:spPr>
          </p:sp>
          <p:sp>
            <p:nvSpPr>
              <p:cNvPr id="20" name="Shape 9">
                <a:extLst>
                  <a:ext uri="{FF2B5EF4-FFF2-40B4-BE49-F238E27FC236}">
                    <a16:creationId xmlns:a16="http://schemas.microsoft.com/office/drawing/2014/main" id="{C3BEBECE-BB6F-C3B0-BB31-92E7D1852518}"/>
                  </a:ext>
                </a:extLst>
              </p:cNvPr>
              <p:cNvSpPr/>
              <p:nvPr/>
            </p:nvSpPr>
            <p:spPr>
              <a:xfrm>
                <a:off x="731520" y="2194560"/>
                <a:ext cx="5486400" cy="91440"/>
              </a:xfrm>
              <a:prstGeom prst="rect">
                <a:avLst/>
              </a:prstGeom>
              <a:solidFill>
                <a:srgbClr val="0F766E"/>
              </a:solidFill>
              <a:ln/>
            </p:spPr>
          </p:sp>
        </p:grpSp>
        <p:sp>
          <p:nvSpPr>
            <p:cNvPr id="17" name="Text 11">
              <a:extLst>
                <a:ext uri="{FF2B5EF4-FFF2-40B4-BE49-F238E27FC236}">
                  <a16:creationId xmlns:a16="http://schemas.microsoft.com/office/drawing/2014/main" id="{77DC6381-4390-BFD1-1AAC-9162EA47ABD8}"/>
                </a:ext>
              </a:extLst>
            </p:cNvPr>
            <p:cNvSpPr/>
            <p:nvPr/>
          </p:nvSpPr>
          <p:spPr>
            <a:xfrm>
              <a:off x="5669280" y="1580108"/>
              <a:ext cx="4846320" cy="2560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514350" indent="-514350">
                <a:lnSpc>
                  <a:spcPct val="138461"/>
                </a:lnSpc>
                <a:buClr>
                  <a:srgbClr val="31465C"/>
                </a:buClr>
                <a:buSzPts val="1300"/>
                <a:buFont typeface="Calibri"/>
                <a:buChar char="•"/>
              </a:pPr>
              <a:r>
                <a:rPr lang="en-US" dirty="0">
                  <a:solidFill>
                    <a:srgbClr val="31465C"/>
                  </a:solidFill>
                  <a:latin typeface="Arial" panose="020B0604020202020204" pitchFamily="34" charset="0"/>
                  <a:ea typeface="Calibri"/>
                  <a:cs typeface="Arial" panose="020B0604020202020204" pitchFamily="34" charset="0"/>
                  <a:sym typeface="Calibri"/>
                </a:rPr>
                <a:t>An SLM is a model that fits on a common consumer device and answers fast enough to serve one user's agentic requests.</a:t>
              </a:r>
              <a:endParaRPr lang="en-US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  <a:p>
              <a:pPr marL="514350" indent="-514350">
                <a:lnSpc>
                  <a:spcPct val="138461"/>
                </a:lnSpc>
                <a:spcBef>
                  <a:spcPts val="1200"/>
                </a:spcBef>
                <a:buClr>
                  <a:srgbClr val="31465C"/>
                </a:buClr>
                <a:buSzPts val="1300"/>
                <a:buFont typeface="Calibri"/>
                <a:buChar char="•"/>
              </a:pPr>
              <a:r>
                <a:rPr lang="en-US" dirty="0">
                  <a:solidFill>
                    <a:srgbClr val="31465C"/>
                  </a:solidFill>
                  <a:latin typeface="Arial" panose="020B0604020202020204" pitchFamily="34" charset="0"/>
                  <a:ea typeface="Calibri"/>
                  <a:cs typeface="Arial" panose="020B0604020202020204" pitchFamily="34" charset="0"/>
                  <a:sym typeface="Calibri"/>
                </a:rPr>
                <a:t>An LLM is simply everything that isn't.</a:t>
              </a:r>
              <a:endParaRPr lang="en-US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  <a:p>
              <a:pPr marL="514350" indent="-514350">
                <a:lnSpc>
                  <a:spcPct val="138461"/>
                </a:lnSpc>
                <a:spcBef>
                  <a:spcPts val="1200"/>
                </a:spcBef>
                <a:buClr>
                  <a:srgbClr val="31465C"/>
                </a:buClr>
                <a:buSzPts val="1300"/>
                <a:buFont typeface="Calibri"/>
                <a:buChar char="•"/>
              </a:pPr>
              <a:r>
                <a:rPr lang="en-US" dirty="0">
                  <a:solidFill>
                    <a:srgbClr val="31465C"/>
                  </a:solidFill>
                  <a:latin typeface="Arial" panose="020B0604020202020204" pitchFamily="34" charset="0"/>
                  <a:ea typeface="Calibri"/>
                  <a:cs typeface="Arial" panose="020B0604020202020204" pitchFamily="34" charset="0"/>
                  <a:sym typeface="Calibri"/>
                </a:rPr>
                <a:t>Anchored on what you can actually ship</a:t>
              </a:r>
              <a:endParaRPr lang="en-US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  <p:sp>
          <p:nvSpPr>
            <p:cNvPr id="18" name="Google Shape;102;p5">
              <a:extLst>
                <a:ext uri="{FF2B5EF4-FFF2-40B4-BE49-F238E27FC236}">
                  <a16:creationId xmlns:a16="http://schemas.microsoft.com/office/drawing/2014/main" id="{1054F48B-D8FB-634E-9F69-253DC9B64BD1}"/>
                </a:ext>
              </a:extLst>
            </p:cNvPr>
            <p:cNvSpPr/>
            <p:nvPr/>
          </p:nvSpPr>
          <p:spPr>
            <a:xfrm>
              <a:off x="5669280" y="900202"/>
              <a:ext cx="5166360" cy="617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0C1E30"/>
                </a:buClr>
                <a:buSzPts val="1900"/>
              </a:pPr>
              <a:r>
                <a:rPr lang="en-US" sz="2400" b="1" dirty="0">
                  <a:solidFill>
                    <a:srgbClr val="0C1E30"/>
                  </a:solidFill>
                  <a:latin typeface="Arial" panose="020B0604020202020204" pitchFamily="34" charset="0"/>
                  <a:ea typeface="Cambria"/>
                  <a:cs typeface="Arial" panose="020B0604020202020204" pitchFamily="34" charset="0"/>
                  <a:sym typeface="Cambria"/>
                </a:rPr>
                <a:t>The </a:t>
              </a:r>
              <a:r>
                <a:rPr lang="en-US" sz="2400" b="1" dirty="0" err="1">
                  <a:solidFill>
                    <a:srgbClr val="0C1E30"/>
                  </a:solidFill>
                  <a:latin typeface="Arial" panose="020B0604020202020204" pitchFamily="34" charset="0"/>
                  <a:ea typeface="Cambria"/>
                  <a:cs typeface="Arial" panose="020B0604020202020204" pitchFamily="34" charset="0"/>
                  <a:sym typeface="Cambria"/>
                </a:rPr>
                <a:t>deployability</a:t>
              </a:r>
              <a:r>
                <a:rPr lang="en-US" sz="2400" b="1" dirty="0">
                  <a:solidFill>
                    <a:srgbClr val="0C1E30"/>
                  </a:solidFill>
                  <a:latin typeface="Arial" panose="020B0604020202020204" pitchFamily="34" charset="0"/>
                  <a:ea typeface="Cambria"/>
                  <a:cs typeface="Arial" panose="020B0604020202020204" pitchFamily="34" charset="0"/>
                  <a:sym typeface="Cambria"/>
                </a:rPr>
                <a:t> definition</a:t>
              </a:r>
              <a:endParaRPr lang="en-US" sz="24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6002000" y="320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0"/>
            <a:ext cx="17190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73836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Agent Needs a Frontier Model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0" y="9738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868680"/>
            <a:ext cx="1645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LLM: The default is expensive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31520" y="2163277"/>
            <a:ext cx="1645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multi-agent systems route every call to the largest model — maximizing quality on hard tasks and wasting budget on easy ones.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31520" y="2940517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F7F8FA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940517"/>
            <a:ext cx="5486400" cy="914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306277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051560" y="3946357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models add seconds per call. Classification and extraction rarely need that depth.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492240" y="2940517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F7F8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92240" y="2940517"/>
            <a:ext cx="5486400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6812280" y="3306277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812280" y="3946357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price scales with model size. Easy stages often dominate total call volume.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12252960" y="2940517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F7F8FA"/>
          </a:solidFill>
          <a:ln/>
        </p:spPr>
      </p:sp>
      <p:sp>
        <p:nvSpPr>
          <p:cNvPr id="19" name="Shape 17"/>
          <p:cNvSpPr/>
          <p:nvPr/>
        </p:nvSpPr>
        <p:spPr>
          <a:xfrm>
            <a:off x="12252960" y="2940517"/>
            <a:ext cx="5486400" cy="914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0" name="Text 18"/>
          <p:cNvSpPr/>
          <p:nvPr/>
        </p:nvSpPr>
        <p:spPr>
          <a:xfrm>
            <a:off x="12573000" y="3306277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2573000" y="3946357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and rate limits are finite. Spending them on rewrite steps starves judgment stages.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31520" y="7421077"/>
            <a:ext cx="1645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Thesis: match model size to stage difficulty — then measure it.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6002000" y="320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0"/>
            <a:ext cx="17190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73836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Agent Needs a Frontier Model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0" y="9738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822960"/>
            <a:ext cx="1645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stages need a frontier model?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640080" y="1591056"/>
            <a:ext cx="8229600" cy="7589520"/>
          </a:xfrm>
          <a:prstGeom prst="roundRect">
            <a:avLst>
              <a:gd name="adj" fmla="val 1205"/>
            </a:avLst>
          </a:prstGeom>
          <a:solidFill>
            <a:srgbClr val="D1FAE5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86537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2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SLM-APPROPRIATE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231136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models are enough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960120" y="3017520"/>
            <a:ext cx="7589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1546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88720" y="34747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Intent, validity, topic tags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60120" y="4114800"/>
            <a:ext cx="7589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42519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88720" y="45720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Keywords, entities, fields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60120" y="5212080"/>
            <a:ext cx="7589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53492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88720" y="56692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/ agent handoff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60120" y="6309360"/>
            <a:ext cx="7589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188720" y="64465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Reranking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188720" y="67665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relevance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60120" y="7406640"/>
            <a:ext cx="7589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1188720" y="75438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Constrained rewrite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188720" y="78638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keyword queries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326880" y="1591056"/>
            <a:ext cx="8229600" cy="7589520"/>
          </a:xfrm>
          <a:prstGeom prst="roundRect">
            <a:avLst>
              <a:gd name="adj" fmla="val 1205"/>
            </a:avLst>
          </a:prstGeom>
          <a:solidFill>
            <a:srgbClr val="EDE9FE"/>
          </a:solidFill>
          <a:ln/>
        </p:spPr>
      </p:sp>
      <p:sp>
        <p:nvSpPr>
          <p:cNvPr id="28" name="Text 26"/>
          <p:cNvSpPr/>
          <p:nvPr/>
        </p:nvSpPr>
        <p:spPr>
          <a:xfrm>
            <a:off x="9646920" y="186537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2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LLM-REQUIRED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646920" y="2231136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need stronger models</a:t>
            </a:r>
            <a:endParaRPr lang="en-US" sz="2800" dirty="0"/>
          </a:p>
        </p:txBody>
      </p:sp>
      <p:sp>
        <p:nvSpPr>
          <p:cNvPr id="30" name="Shape 28"/>
          <p:cNvSpPr/>
          <p:nvPr/>
        </p:nvSpPr>
        <p:spPr>
          <a:xfrm>
            <a:off x="9646920" y="3017520"/>
            <a:ext cx="7589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9875520" y="31546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Open-ended synthesis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875520" y="34747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Plans, long reports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646920" y="4114800"/>
            <a:ext cx="7589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9875520" y="42519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Ambiguity resolution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9875520" y="45720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Conflicting evidence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646920" y="5212080"/>
            <a:ext cx="7589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9875520" y="53492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Multi-criteria judgment</a:t>
            </a: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9875520" y="56692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 scoring (10 axes)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646920" y="6309360"/>
            <a:ext cx="7589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9875520" y="64465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Self-reflection</a:t>
            </a: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9875520" y="67665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 / gap analysis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646920" y="7406640"/>
            <a:ext cx="7589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9875520" y="75438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Nuanced ranking</a:t>
            </a: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9875520" y="78638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Subtle quality differences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6002000" y="320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kern="0" spc="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0"/>
            <a:ext cx="17190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73836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Agent Needs a Frontier Model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0" y="9738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777240"/>
            <a:ext cx="1645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orchestration graph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31520" y="1143000"/>
            <a:ext cx="1645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supervisor routes work; specialists report completion back</a:t>
            </a: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731520" y="1943100"/>
            <a:ext cx="8138160" cy="2377440"/>
          </a:xfrm>
          <a:prstGeom prst="roundRect">
            <a:avLst>
              <a:gd name="adj" fmla="val 3846"/>
            </a:avLst>
          </a:prstGeom>
          <a:solidFill>
            <a:srgbClr val="F7F8FA"/>
          </a:solidFill>
          <a:ln/>
        </p:spPr>
      </p:sp>
      <p:sp>
        <p:nvSpPr>
          <p:cNvPr id="33" name="Text 31"/>
          <p:cNvSpPr/>
          <p:nvPr/>
        </p:nvSpPr>
        <p:spPr>
          <a:xfrm>
            <a:off x="1005840" y="21717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graph shows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005840" y="262890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lead supervisor dispatches to specialist agents (planner, discovery, evaluation). Each specialist can use a different model size. Completion flows back — not every node needs an 8B brain.</a:t>
            </a: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731520" y="4941733"/>
            <a:ext cx="8138160" cy="2377440"/>
          </a:xfrm>
          <a:prstGeom prst="roundRect">
            <a:avLst>
              <a:gd name="adj" fmla="val 3846"/>
            </a:avLst>
          </a:prstGeom>
          <a:solidFill>
            <a:srgbClr val="F7F8FA"/>
          </a:solidFill>
          <a:ln/>
        </p:spPr>
      </p:sp>
      <p:sp>
        <p:nvSpPr>
          <p:cNvPr id="36" name="Text 34"/>
          <p:cNvSpPr/>
          <p:nvPr/>
        </p:nvSpPr>
        <p:spPr>
          <a:xfrm>
            <a:off x="1005840" y="5170333"/>
            <a:ext cx="733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policy on this graph</a:t>
            </a: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005840" y="5627533"/>
            <a:ext cx="73395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+ discovery → SLM (0.5B)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+ report → LLM (8B)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stays explicit via choose_model(stage, mode).</a:t>
            </a:r>
            <a:endParaRPr lang="en-US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8560F91D-9141-F323-DDB4-C476AC663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8495" y="1463040"/>
            <a:ext cx="8620610" cy="65535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6002000" y="320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kern="0" spc="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0"/>
            <a:ext cx="17190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73836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Agent Needs a Frontier Model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0" y="9738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868680"/>
            <a:ext cx="1645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22960" y="1837944"/>
            <a:ext cx="548640" cy="54864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9293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1792224"/>
            <a:ext cx="1508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stages first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45920" y="2203704"/>
            <a:ext cx="1508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each step as classification / extraction / routing vs. judgment / synthesis before picking a model.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822960" y="3209544"/>
            <a:ext cx="548640" cy="54864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3009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45920" y="3163824"/>
            <a:ext cx="1508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to SLM, escalate to LLM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45920" y="3575304"/>
            <a:ext cx="1508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small model unless the stage requires open-ended reasoning or multi-criteria judgment.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22960" y="4581144"/>
            <a:ext cx="548640" cy="54864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6725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45920" y="4535424"/>
            <a:ext cx="1508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routing explicit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45920" y="4946904"/>
            <a:ext cx="1508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choose_model(stage, mode) policy beats “always call the biggest model.”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822960" y="5952744"/>
            <a:ext cx="548640" cy="54864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60441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45920" y="5907024"/>
            <a:ext cx="1508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the mix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645920" y="6318504"/>
            <a:ext cx="1508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quality, P50/P95 latency, cost, and SLM vs LLM call share — not just whether the answer looks good.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822960" y="7324344"/>
            <a:ext cx="548640" cy="54864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74157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645920" y="7278624"/>
            <a:ext cx="1508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only when it pays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645920" y="7690104"/>
            <a:ext cx="1508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rewrite and multi-agent routing help when discovery is fragile; pure judgment stages still need the LLM.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6002000" y="3200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kern="0" spc="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0"/>
            <a:ext cx="17190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73836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Agent Needs a Frontier Model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258800" y="9738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notebook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822960"/>
            <a:ext cx="1645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results (FIXED run)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640080" y="1371600"/>
            <a:ext cx="4160520" cy="2057400"/>
          </a:xfrm>
          <a:prstGeom prst="roundRect">
            <a:avLst>
              <a:gd name="adj" fmla="val 4444"/>
            </a:avLst>
          </a:prstGeom>
          <a:solidFill>
            <a:srgbClr val="F7F8F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5544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SLM wall-clock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192024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52s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68680" y="26517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calls · 0 LLM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0" y="1371600"/>
            <a:ext cx="4160520" cy="2057400"/>
          </a:xfrm>
          <a:prstGeom prst="roundRect">
            <a:avLst>
              <a:gd name="adj" fmla="val 4444"/>
            </a:avLst>
          </a:prstGeom>
          <a:solidFill>
            <a:srgbClr val="F7F8FA"/>
          </a:solidFill>
          <a:ln/>
        </p:spPr>
      </p:sp>
      <p:sp>
        <p:nvSpPr>
          <p:cNvPr id="14" name="Text 12"/>
          <p:cNvSpPr/>
          <p:nvPr/>
        </p:nvSpPr>
        <p:spPr>
          <a:xfrm>
            <a:off x="5257800" y="15544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wall-clock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57800" y="192024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266s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5257800" y="26517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calls · 0 SLM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418320" y="1371600"/>
            <a:ext cx="4160520" cy="2057400"/>
          </a:xfrm>
          <a:prstGeom prst="roundRect">
            <a:avLst>
              <a:gd name="adj" fmla="val 4444"/>
            </a:avLst>
          </a:prstGeom>
          <a:solidFill>
            <a:srgbClr val="F7F8FA"/>
          </a:solidFill>
          <a:ln/>
        </p:spPr>
      </p:sp>
      <p:sp>
        <p:nvSpPr>
          <p:cNvPr id="18" name="Text 16"/>
          <p:cNvSpPr/>
          <p:nvPr/>
        </p:nvSpPr>
        <p:spPr>
          <a:xfrm>
            <a:off x="9646920" y="15544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wall-clock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46920" y="192024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121s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9646920" y="26517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SLM · 4 LLM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3807440" y="1371600"/>
            <a:ext cx="4160520" cy="2057400"/>
          </a:xfrm>
          <a:prstGeom prst="roundRect">
            <a:avLst>
              <a:gd name="adj" fmla="val 4444"/>
            </a:avLst>
          </a:prstGeom>
          <a:solidFill>
            <a:srgbClr val="F7F8FA"/>
          </a:solidFill>
          <a:ln/>
        </p:spPr>
      </p:sp>
      <p:sp>
        <p:nvSpPr>
          <p:cNvPr id="22" name="Text 20"/>
          <p:cNvSpPr/>
          <p:nvPr/>
        </p:nvSpPr>
        <p:spPr>
          <a:xfrm>
            <a:off x="14036040" y="15544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avg AGI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036040" y="192024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71.1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14036040" y="26517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High papers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517648" y="3749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346448" y="3749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809488" y="3749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AGI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55408" y="3749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735568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Wall-clock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747248" y="3749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SLM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210288" y="3749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673328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cost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517648" y="4114800"/>
            <a:ext cx="15727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7648" y="4297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SLM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346448" y="4297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809488" y="4297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61.1</a:t>
            </a: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455408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735568" y="4297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52s</a:t>
            </a: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0747248" y="4297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2210288" y="4297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3673328" y="4297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$0.00016</a:t>
            </a: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2517648" y="4846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346448" y="4846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809488" y="4846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71.1</a:t>
            </a: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455408" y="4846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8735568" y="4846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266s</a:t>
            </a: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0747248" y="4846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12210288" y="4846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13673328" y="4846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$0.00132</a:t>
            </a: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2517648" y="5394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</a:t>
            </a: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346448" y="5394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5809488" y="5394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55.1</a:t>
            </a: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7455408" y="5394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8735568" y="5394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121s</a:t>
            </a: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10747248" y="5394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12210288" y="5394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13673328" y="5394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$0.00087</a:t>
            </a:r>
            <a:endParaRPr lang="en-US" dirty="0"/>
          </a:p>
        </p:txBody>
      </p:sp>
      <p:sp>
        <p:nvSpPr>
          <p:cNvPr id="58" name="Shape 56"/>
          <p:cNvSpPr/>
          <p:nvPr/>
        </p:nvSpPr>
        <p:spPr>
          <a:xfrm>
            <a:off x="731520" y="6309360"/>
            <a:ext cx="16733520" cy="2468880"/>
          </a:xfrm>
          <a:prstGeom prst="roundRect">
            <a:avLst>
              <a:gd name="adj" fmla="val 3704"/>
            </a:avLst>
          </a:prstGeom>
          <a:solidFill>
            <a:srgbClr val="F7F8FA"/>
          </a:solidFill>
          <a:ln/>
        </p:spPr>
      </p:sp>
      <p:sp>
        <p:nvSpPr>
          <p:cNvPr id="59" name="Text 57"/>
          <p:cNvSpPr/>
          <p:nvPr/>
        </p:nvSpPr>
        <p:spPr>
          <a:xfrm>
            <a:off x="1051560" y="6537960"/>
            <a:ext cx="1600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read</a:t>
            </a: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1051560" y="6995160"/>
            <a:ext cx="1600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SLM is ~5× faster than pure LLM. Hybrid cuts latency roughly in half vs LLM while keeping judgment on the large model (4 of 6 calls). Quality edge still sits with the LLM — as expected for multi-criteria scoring — but cost and latency favor Hybrid for production volume.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82880" cy="10287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017520"/>
            <a:ext cx="1554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agent needs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frontier model.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4846320"/>
            <a:ext cx="292608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5212080"/>
            <a:ext cx="1463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model size to stage difficulty.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quality, latency, cost, and call mix.</a:t>
            </a:r>
            <a:endParaRPr lang="en-US" sz="1800" dirty="0"/>
          </a:p>
        </p:txBody>
      </p:sp>
      <p:pic>
        <p:nvPicPr>
          <p:cNvPr id="7" name="Picture 6" descr="Cypher 2026">
            <a:extLst>
              <a:ext uri="{FF2B5EF4-FFF2-40B4-BE49-F238E27FC236}">
                <a16:creationId xmlns:a16="http://schemas.microsoft.com/office/drawing/2014/main" id="{269715F9-E95F-B819-A276-37D875011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3687" y="426720"/>
            <a:ext cx="3717821" cy="493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818</Words>
  <Application>Microsoft Office PowerPoint</Application>
  <PresentationFormat>Custom</PresentationFormat>
  <Paragraphs>163</Paragraphs>
  <Slides>9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 Every Agent Needs a Frontier Model</dc:title>
  <dc:subject>PptxGenJS Presentation</dc:subject>
  <dc:creator>Nitin Agarwal</dc:creator>
  <cp:lastModifiedBy>Nitin Agarwal</cp:lastModifiedBy>
  <cp:revision>8</cp:revision>
  <dcterms:created xsi:type="dcterms:W3CDTF">2026-10-09T02:21:05Z</dcterms:created>
  <dcterms:modified xsi:type="dcterms:W3CDTF">2026-10-09T03:41:02Z</dcterms:modified>
</cp:coreProperties>
</file>